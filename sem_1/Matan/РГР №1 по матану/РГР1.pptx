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9" r:id="rId1"/>
  </p:sldMasterIdLst>
  <p:notesMasterIdLst>
    <p:notesMasterId r:id="rId10"/>
  </p:notesMasterIdLst>
  <p:sldIdLst>
    <p:sldId id="256" r:id="rId2"/>
    <p:sldId id="262" r:id="rId3"/>
    <p:sldId id="258" r:id="rId4"/>
    <p:sldId id="257" r:id="rId5"/>
    <p:sldId id="259" r:id="rId6"/>
    <p:sldId id="263" r:id="rId7"/>
    <p:sldId id="260" r:id="rId8"/>
    <p:sldId id="261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16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2D58EE-F5F5-4DB5-9AAA-EE45907E47BE}" type="datetimeFigureOut">
              <a:rPr lang="ru-RU" smtClean="0"/>
              <a:t>12.12.2025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63ED09-82F6-44B2-84BA-234B6A0584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3739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Не забыть упомянуть про </a:t>
            </a:r>
            <a:r>
              <a:rPr lang="ru-RU" dirty="0" err="1"/>
              <a:t>денормализацию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63ED09-82F6-44B2-84BA-234B6A058455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51014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63ED09-82F6-44B2-84BA-234B6A058455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90639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7177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8291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9707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6386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12/11/2025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285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12/11/2025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4188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12/11/2025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2078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3717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1802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6481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9946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24433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2" r:id="rId6"/>
    <p:sldLayoutId id="2147483698" r:id="rId7"/>
    <p:sldLayoutId id="2147483699" r:id="rId8"/>
    <p:sldLayoutId id="2147483700" r:id="rId9"/>
    <p:sldLayoutId id="2147483701" r:id="rId10"/>
    <p:sldLayoutId id="2147483703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B259FE-8737-57DA-977B-CB4A5A21F8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3400" y="871758"/>
            <a:ext cx="5227171" cy="387114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ru-RU" sz="3400"/>
              <a:t>РГР№1: Численное дифференцирование и Проблема точности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6226AE2-06A3-31A8-51B0-5799668569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1688" y="4785543"/>
            <a:ext cx="4857857" cy="100565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ru-RU" sz="1400"/>
              <a:t>Работу выполнили:</a:t>
            </a:r>
          </a:p>
          <a:p>
            <a:pPr>
              <a:lnSpc>
                <a:spcPct val="100000"/>
              </a:lnSpc>
            </a:pPr>
            <a:r>
              <a:rPr lang="ru-RU" sz="1400"/>
              <a:t>Веселов Ф.</a:t>
            </a:r>
          </a:p>
          <a:p>
            <a:pPr>
              <a:lnSpc>
                <a:spcPct val="100000"/>
              </a:lnSpc>
            </a:pPr>
            <a:r>
              <a:rPr lang="ru-RU" sz="1400"/>
              <a:t>Ежелев Г.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49149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7CC41EB-2D81-4303-9171-6401B388BA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100"/>
            <a:ext cx="49149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Рисунок 5" descr="Изображение выглядит как линия, диаграмма, Графи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BC61D66-C10E-6B43-977B-5AC1901D47F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628" r="25669" b="-2"/>
          <a:stretch>
            <a:fillRect/>
          </a:stretch>
        </p:blipFill>
        <p:spPr>
          <a:xfrm>
            <a:off x="5876856" y="10"/>
            <a:ext cx="6368859" cy="6857990"/>
          </a:xfrm>
          <a:prstGeom prst="rect">
            <a:avLst/>
          </a:prstGeom>
        </p:spPr>
      </p:pic>
      <p:sp>
        <p:nvSpPr>
          <p:cNvPr id="7" name="Овал 6">
            <a:extLst>
              <a:ext uri="{FF2B5EF4-FFF2-40B4-BE49-F238E27FC236}">
                <a16:creationId xmlns:a16="http://schemas.microsoft.com/office/drawing/2014/main" id="{E6D660D6-65D5-0348-3484-B2CFF6E52937}"/>
              </a:ext>
            </a:extLst>
          </p:cNvPr>
          <p:cNvSpPr/>
          <p:nvPr/>
        </p:nvSpPr>
        <p:spPr>
          <a:xfrm rot="19251500">
            <a:off x="11644249" y="3773141"/>
            <a:ext cx="682052" cy="329784"/>
          </a:xfrm>
          <a:prstGeom prst="ellipse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0352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AFD100-E113-E6CD-7DB3-6AE7F18E50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Представление чисел в памяти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0090158-DB27-F5B4-6074-E1262921D1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7311" y="2221992"/>
            <a:ext cx="5093637" cy="3739896"/>
          </a:xfrm>
        </p:spPr>
        <p:txBody>
          <a:bodyPr>
            <a:noAutofit/>
          </a:bodyPr>
          <a:lstStyle/>
          <a:p>
            <a:r>
              <a:rPr lang="ru-RU" sz="1600" dirty="0"/>
              <a:t>стандарт </a:t>
            </a:r>
            <a:r>
              <a:rPr lang="en-US" sz="1600" dirty="0"/>
              <a:t>IEEE754</a:t>
            </a:r>
            <a:endParaRPr lang="ru-RU" sz="1600" dirty="0"/>
          </a:p>
          <a:p>
            <a:r>
              <a:rPr lang="ru-RU" sz="1600" dirty="0"/>
              <a:t>Числа с плавающей запятой следующим образом:</a:t>
            </a:r>
            <a:br>
              <a:rPr lang="ru-RU" sz="1600" dirty="0"/>
            </a:br>
            <a:r>
              <a:rPr lang="ru-RU" sz="1600" dirty="0"/>
              <a:t>(-1)</a:t>
            </a:r>
            <a:r>
              <a:rPr lang="ru-RU" sz="1600" baseline="30000" dirty="0"/>
              <a:t>s</a:t>
            </a:r>
            <a:r>
              <a:rPr lang="ru-RU" sz="1600" dirty="0"/>
              <a:t> × 1.M × 2</a:t>
            </a:r>
            <a:r>
              <a:rPr lang="ru-RU" sz="1600" baseline="30000" dirty="0"/>
              <a:t>E</a:t>
            </a:r>
          </a:p>
          <a:p>
            <a:r>
              <a:rPr lang="ru-RU" sz="1600" dirty="0"/>
              <a:t>Эффективный порядок определяется как E-127</a:t>
            </a:r>
          </a:p>
          <a:p>
            <a:r>
              <a:rPr lang="ru-RU" sz="1600" dirty="0"/>
              <a:t>«0» представляется значением с порядком, равным E=E</a:t>
            </a:r>
            <a:r>
              <a:rPr lang="ru-RU" sz="1600" baseline="-25000" dirty="0"/>
              <a:t>min</a:t>
            </a:r>
            <a:r>
              <a:rPr lang="ru-RU" sz="1600" dirty="0"/>
              <a:t>-1</a:t>
            </a:r>
          </a:p>
          <a:p>
            <a:r>
              <a:rPr lang="ru-RU" sz="1600" dirty="0"/>
              <a:t>Бесконечности представлены как числа с порядком E=E</a:t>
            </a:r>
            <a:r>
              <a:rPr lang="ru-RU" sz="1600" baseline="-25000" dirty="0"/>
              <a:t>max</a:t>
            </a:r>
            <a:r>
              <a:rPr lang="ru-RU" sz="1600" dirty="0"/>
              <a:t>+1 и нулевой мантиссой</a:t>
            </a:r>
          </a:p>
          <a:p>
            <a:r>
              <a:rPr lang="ru-RU" sz="1600" dirty="0" err="1"/>
              <a:t>NaN</a:t>
            </a:r>
            <a:r>
              <a:rPr lang="ru-RU" sz="1600" dirty="0"/>
              <a:t> представлен как E=E</a:t>
            </a:r>
            <a:r>
              <a:rPr lang="ru-RU" sz="1600" baseline="-25000" dirty="0"/>
              <a:t>max</a:t>
            </a:r>
            <a:r>
              <a:rPr lang="ru-RU" sz="1600" dirty="0"/>
              <a:t>+1, а мантисса не нулевая. Любая операция с </a:t>
            </a:r>
            <a:r>
              <a:rPr lang="ru-RU" sz="1600" dirty="0" err="1"/>
              <a:t>NaN</a:t>
            </a:r>
            <a:r>
              <a:rPr lang="ru-RU" sz="1600" dirty="0"/>
              <a:t> возвращает </a:t>
            </a:r>
            <a:r>
              <a:rPr lang="ru-RU" sz="1600" dirty="0" err="1"/>
              <a:t>NaN</a:t>
            </a:r>
            <a:br>
              <a:rPr lang="ru-RU" sz="1600" dirty="0"/>
            </a:br>
            <a:endParaRPr lang="ru-RU" sz="1600" dirty="0"/>
          </a:p>
        </p:txBody>
      </p:sp>
      <p:pic>
        <p:nvPicPr>
          <p:cNvPr id="9" name="Рисунок 8" descr="Изображение выглядит как текст, Шрифт, линия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0ED938D-05FF-6678-F1A6-1C082F3917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1377" y="2104472"/>
            <a:ext cx="5619750" cy="71437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4A37A99-1C57-F04D-3BD7-6B16F5B7DE49}"/>
              </a:ext>
            </a:extLst>
          </p:cNvPr>
          <p:cNvSpPr txBox="1"/>
          <p:nvPr/>
        </p:nvSpPr>
        <p:spPr>
          <a:xfrm>
            <a:off x="5654042" y="3238756"/>
            <a:ext cx="496895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Самая опасная операция с точки зрения округления в арифметике с плавающей запятой — это вычитание. При вычитании близких чисел значимые разряды могут потеряться, что</a:t>
            </a:r>
            <a:br>
              <a:rPr lang="ru-RU" sz="1600" dirty="0"/>
            </a:br>
            <a:r>
              <a:rPr lang="ru-RU" sz="1600" dirty="0"/>
              <a:t>может в разы увеличить относительную погрешность</a:t>
            </a:r>
          </a:p>
        </p:txBody>
      </p:sp>
    </p:spTree>
    <p:extLst>
      <p:ext uri="{BB962C8B-B14F-4D97-AF65-F5344CB8AC3E}">
        <p14:creationId xmlns:p14="http://schemas.microsoft.com/office/powerpoint/2010/main" val="26756730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126B2E-38C9-F447-2ABA-446DAE02D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Неточность машинного приближения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32EE6017-B67F-9ABE-532E-C52EECE2C00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ru-RU" dirty="0"/>
                  <a:t>Машинный эпсилон </a:t>
                </a:r>
              </a:p>
              <a:p>
                <a:r>
                  <a:rPr lang="ru-RU" dirty="0"/>
                  <a:t>В </a:t>
                </a:r>
                <a:r>
                  <a:rPr lang="en-US" dirty="0"/>
                  <a:t>double (64 </a:t>
                </a:r>
                <a:r>
                  <a:rPr lang="ru-RU" dirty="0"/>
                  <a:t>бита) мантисса — 52 бита + 1 неявный бит (всего 53 бита точности). </a:t>
                </a:r>
              </a:p>
              <a:p>
                <a:r>
                  <a:rPr lang="ru-RU" dirty="0"/>
                  <a:t>Добавка меньше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/>
                        </m:ctrlPr>
                      </m:sSupPr>
                      <m:e>
                        <m:r>
                          <a:rPr lang="ar-AE"/>
                          <m:t>2</m:t>
                        </m:r>
                      </m:e>
                      <m:sup>
                        <m:r>
                          <a:rPr lang="ar-AE"/>
                          <m:t>−</m:t>
                        </m:r>
                        <m:r>
                          <a:rPr lang="ar-AE"/>
                          <m:t>52</m:t>
                        </m:r>
                      </m:sup>
                    </m:sSup>
                  </m:oMath>
                </a14:m>
                <a:r>
                  <a:rPr lang="ru-RU" dirty="0"/>
                  <a:t> к 1.0 "теряется" при округлении до ближайшего представимого числа</a:t>
                </a:r>
              </a:p>
              <a:p>
                <a14:m>
                  <m:oMath xmlns:m="http://schemas.openxmlformats.org/officeDocument/2006/math">
                    <m:r>
                      <a:rPr lang="ru-RU" i="1"/>
                      <m:t>𝜀</m:t>
                    </m:r>
                    <m:r>
                      <a:rPr lang="ru-RU"/>
                      <m:t>&lt;</m:t>
                    </m:r>
                    <m:sSup>
                      <m:sSupPr>
                        <m:ctrlPr>
                          <a:rPr lang="ar-AE" i="1"/>
                        </m:ctrlPr>
                      </m:sSupPr>
                      <m:e>
                        <m:r>
                          <a:rPr lang="ar-AE"/>
                          <m:t>2</m:t>
                        </m:r>
                      </m:e>
                      <m:sup>
                        <m:r>
                          <a:rPr lang="ar-AE"/>
                          <m:t>−</m:t>
                        </m:r>
                        <m:r>
                          <a:rPr lang="ar-AE"/>
                          <m:t>52</m:t>
                        </m:r>
                      </m:sup>
                    </m:sSup>
                    <m:r>
                      <a:rPr lang="ar-AE"/>
                      <m:t>≈</m:t>
                    </m:r>
                    <m:r>
                      <a:rPr lang="ar-AE"/>
                      <m:t>2</m:t>
                    </m:r>
                    <m:r>
                      <a:rPr lang="ar-AE"/>
                      <m:t>.</m:t>
                    </m:r>
                    <m:r>
                      <a:rPr lang="ar-AE"/>
                      <m:t>22</m:t>
                    </m:r>
                    <m:r>
                      <a:rPr lang="ar-AE"/>
                      <m:t>×</m:t>
                    </m:r>
                    <m:sSup>
                      <m:sSupPr>
                        <m:ctrlPr>
                          <a:rPr lang="ar-AE" i="1"/>
                        </m:ctrlPr>
                      </m:sSupPr>
                      <m:e>
                        <m:r>
                          <a:rPr lang="ar-AE"/>
                          <m:t>10</m:t>
                        </m:r>
                      </m:e>
                      <m:sup>
                        <m:r>
                          <a:rPr lang="ar-AE"/>
                          <m:t>−</m:t>
                        </m:r>
                        <m:r>
                          <a:rPr lang="ar-AE"/>
                          <m:t>16</m:t>
                        </m:r>
                      </m:sup>
                    </m:sSup>
                  </m:oMath>
                </a14:m>
                <a:endParaRPr lang="ru-RU" dirty="0"/>
              </a:p>
              <a:p>
                <a:r>
                  <a:rPr lang="ru-RU" dirty="0"/>
                  <a:t>Это предел относительной точности арифметики</a:t>
                </a:r>
              </a:p>
            </p:txBody>
          </p:sp>
        </mc:Choice>
        <mc:Fallback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32EE6017-B67F-9ABE-532E-C52EECE2C00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13" t="-97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18976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959002-E871-B577-A605-21374355F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Определение производной: </a:t>
            </a:r>
            <a:br>
              <a:rPr lang="ru-RU" dirty="0"/>
            </a:br>
            <a:r>
              <a:rPr lang="ru-RU" dirty="0"/>
              <a:t>формулы конечных разностей</a:t>
            </a:r>
          </a:p>
        </p:txBody>
      </p:sp>
      <p:sp>
        <p:nvSpPr>
          <p:cNvPr id="25" name="AutoShape 22" descr="{\displaystyle f}">
            <a:extLst>
              <a:ext uri="{FF2B5EF4-FFF2-40B4-BE49-F238E27FC236}">
                <a16:creationId xmlns:a16="http://schemas.microsoft.com/office/drawing/2014/main" id="{82864FCA-CAF1-7EA3-2742-4921FE8A987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002723" y="2606232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6" name="AutoShape 23" descr="{\displaystyle x}">
            <a:extLst>
              <a:ext uri="{FF2B5EF4-FFF2-40B4-BE49-F238E27FC236}">
                <a16:creationId xmlns:a16="http://schemas.microsoft.com/office/drawing/2014/main" id="{246C2A7D-2086-F14B-61C1-DC5F49F316A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353685" y="2606232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4ED42CB8-9754-28B7-6589-C056ADBDA7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57800" y="3262312"/>
            <a:ext cx="1676400" cy="333375"/>
          </a:xfrm>
          <a:prstGeom prst="rect">
            <a:avLst/>
          </a:prstGeom>
        </p:spPr>
      </p:pic>
      <p:pic>
        <p:nvPicPr>
          <p:cNvPr id="32" name="Рисунок 31" descr="Изображение выглядит как Шрифт, текст, линия, бел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CC3F653-7AAF-B435-313F-E6442F9FA1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0499" y="2506663"/>
            <a:ext cx="2947629" cy="684891"/>
          </a:xfrm>
          <a:prstGeom prst="rect">
            <a:avLst/>
          </a:prstGeom>
        </p:spPr>
      </p:pic>
      <p:pic>
        <p:nvPicPr>
          <p:cNvPr id="34" name="Рисунок 33" descr="Изображение выглядит как Шрифт, рукописный текст, число, лин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EEF68CB-F59A-FDDE-DA04-2F1674D6D90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0352" y="2534872"/>
            <a:ext cx="2089349" cy="684890"/>
          </a:xfrm>
          <a:prstGeom prst="rect">
            <a:avLst/>
          </a:prstGeom>
        </p:spPr>
      </p:pic>
      <p:pic>
        <p:nvPicPr>
          <p:cNvPr id="38" name="Рисунок 37" descr="Изображение выглядит как Шрифт, белый, текст, черно-бел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85D0B8C-C965-8D37-A57F-C14AA545D6E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93019" y="2578022"/>
            <a:ext cx="2731132" cy="741308"/>
          </a:xfrm>
          <a:prstGeom prst="rect">
            <a:avLst/>
          </a:prstGeom>
        </p:spPr>
      </p:pic>
      <p:pic>
        <p:nvPicPr>
          <p:cNvPr id="40" name="Рисунок 39" descr="Изображение выглядит как текст, Шрифт, белый, логотип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951F250-9337-869E-5E02-F4842F05E36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33944" y="2606232"/>
            <a:ext cx="1170538" cy="684889"/>
          </a:xfrm>
          <a:prstGeom prst="rect">
            <a:avLst/>
          </a:prstGeom>
        </p:spPr>
      </p:pic>
      <p:pic>
        <p:nvPicPr>
          <p:cNvPr id="42" name="Рисунок 41" descr="Изображение выглядит как текст, Шрифт, лин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4A53B0F-5D4F-1739-47CE-CD72AFAD29F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2344" y="4423243"/>
            <a:ext cx="4553184" cy="1085906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CAF9AF91-CC6C-78C4-08EA-76CCC977E4B5}"/>
              </a:ext>
            </a:extLst>
          </p:cNvPr>
          <p:cNvSpPr txBox="1"/>
          <p:nvPr/>
        </p:nvSpPr>
        <p:spPr>
          <a:xfrm>
            <a:off x="1912238" y="3219762"/>
            <a:ext cx="11966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правая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2F730FF-8D6A-B751-4BEB-DA3EEE8467CD}"/>
              </a:ext>
            </a:extLst>
          </p:cNvPr>
          <p:cNvSpPr txBox="1"/>
          <p:nvPr/>
        </p:nvSpPr>
        <p:spPr>
          <a:xfrm>
            <a:off x="8281925" y="3186191"/>
            <a:ext cx="11966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левая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E898A4C-6A53-27B7-2BAC-C6FEB9EF1869}"/>
              </a:ext>
            </a:extLst>
          </p:cNvPr>
          <p:cNvSpPr txBox="1"/>
          <p:nvPr/>
        </p:nvSpPr>
        <p:spPr>
          <a:xfrm>
            <a:off x="5004482" y="3186191"/>
            <a:ext cx="15865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центральная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6807A0B-CC3B-229F-4D55-57139174E5FE}"/>
              </a:ext>
            </a:extLst>
          </p:cNvPr>
          <p:cNvSpPr txBox="1"/>
          <p:nvPr/>
        </p:nvSpPr>
        <p:spPr>
          <a:xfrm>
            <a:off x="832344" y="3996634"/>
            <a:ext cx="3260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Разложение по Тейлору</a:t>
            </a:r>
          </a:p>
        </p:txBody>
      </p:sp>
      <p:pic>
        <p:nvPicPr>
          <p:cNvPr id="48" name="Рисунок 47" descr="Изображение выглядит как Шрифт, текст, рукописный текст, лин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93B8A46-70FF-BFA0-F525-20AFE9DA973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56785" y="4688191"/>
            <a:ext cx="3225966" cy="615982"/>
          </a:xfrm>
          <a:prstGeom prst="rect">
            <a:avLst/>
          </a:prstGeom>
        </p:spPr>
      </p:pic>
      <p:sp>
        <p:nvSpPr>
          <p:cNvPr id="49" name="Правая фигурная скобка 48">
            <a:extLst>
              <a:ext uri="{FF2B5EF4-FFF2-40B4-BE49-F238E27FC236}">
                <a16:creationId xmlns:a16="http://schemas.microsoft.com/office/drawing/2014/main" id="{4075B3E3-5381-AB88-42F9-31A9649FD673}"/>
              </a:ext>
            </a:extLst>
          </p:cNvPr>
          <p:cNvSpPr/>
          <p:nvPr/>
        </p:nvSpPr>
        <p:spPr>
          <a:xfrm>
            <a:off x="5504811" y="4467672"/>
            <a:ext cx="220929" cy="1041477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3" name="Рисунок 52" descr="Изображение выглядит как текст, Шрифт, линия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B62C2D7-06F0-E798-20CB-2C07E50EFB9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63864" y="4259506"/>
            <a:ext cx="2095792" cy="857370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623E8677-EA2A-4702-0EEB-DFC8A3D203AA}"/>
              </a:ext>
            </a:extLst>
          </p:cNvPr>
          <p:cNvSpPr txBox="1"/>
          <p:nvPr/>
        </p:nvSpPr>
        <p:spPr>
          <a:xfrm>
            <a:off x="9380133" y="5056973"/>
            <a:ext cx="1832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Правило Рунге</a:t>
            </a:r>
          </a:p>
        </p:txBody>
      </p:sp>
    </p:spTree>
    <p:extLst>
      <p:ext uri="{BB962C8B-B14F-4D97-AF65-F5344CB8AC3E}">
        <p14:creationId xmlns:p14="http://schemas.microsoft.com/office/powerpoint/2010/main" val="29567792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341BFA31-6544-45C2-9DA0-9E1C5E0B19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EDF4A4-D834-7F50-AE7B-79A854741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00" y="871759"/>
            <a:ext cx="10925176" cy="112887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400"/>
              <a:t>Реализация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DC36F877-5419-44C1-A2CD-376BDDDC3E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Рисунок 18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F356104-1643-178E-9892-A537739272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263" y="2548317"/>
            <a:ext cx="4967587" cy="3166837"/>
          </a:xfrm>
          <a:prstGeom prst="rect">
            <a:avLst/>
          </a:prstGeom>
        </p:spPr>
      </p:pic>
      <p:pic>
        <p:nvPicPr>
          <p:cNvPr id="13" name="Рисунок 12" descr="Изображение выглядит как текст, снимок экрана, Шрифт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402BD68-686F-5A4F-8AAB-A97F98705D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6479" y="1608249"/>
            <a:ext cx="6518258" cy="3641501"/>
          </a:xfrm>
          <a:prstGeom prst="rect">
            <a:avLst/>
          </a:prstGeom>
        </p:spPr>
      </p:pic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44B21692-652C-4371-95C5-05248EF342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7890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06566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7C5245-E0A3-CB8E-099D-B076DA70BC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2307AF-6F7B-3067-7E0A-D008A1D217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367" y="827105"/>
            <a:ext cx="10691265" cy="1307592"/>
          </a:xfrm>
        </p:spPr>
        <p:txBody>
          <a:bodyPr/>
          <a:lstStyle/>
          <a:p>
            <a:r>
              <a:rPr lang="ru-RU" dirty="0"/>
              <a:t>Реализация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EE3B451-EC44-F4DF-DA54-D05866EF7F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2221992"/>
            <a:ext cx="3521561" cy="3739896"/>
          </a:xfrm>
        </p:spPr>
        <p:txBody>
          <a:bodyPr/>
          <a:lstStyle/>
          <a:p>
            <a:r>
              <a:rPr lang="ru-RU" dirty="0"/>
              <a:t>График</a:t>
            </a:r>
          </a:p>
        </p:txBody>
      </p:sp>
      <p:pic>
        <p:nvPicPr>
          <p:cNvPr id="6" name="Рисунок 5" descr="Изображение выглядит как текст, число, Шрифт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68BE01B-CB19-64F7-53F5-EF865F34F6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505" y="1569428"/>
            <a:ext cx="7928556" cy="446146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05C57BF-900C-E60B-B77C-399B929BAF10}"/>
              </a:ext>
            </a:extLst>
          </p:cNvPr>
          <p:cNvSpPr txBox="1"/>
          <p:nvPr/>
        </p:nvSpPr>
        <p:spPr>
          <a:xfrm>
            <a:off x="8231702" y="1969569"/>
            <a:ext cx="56737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/>
              <a:t>e^x</a:t>
            </a:r>
            <a:r>
              <a:rPr lang="en-US" b="1" dirty="0"/>
              <a:t>/(x^2 +1)  </a:t>
            </a:r>
            <a:br>
              <a:rPr lang="en-US" b="1" dirty="0"/>
            </a:br>
            <a:r>
              <a:rPr lang="en-US" b="1" dirty="0"/>
              <a:t>sin(x) / x</a:t>
            </a:r>
            <a:r>
              <a:rPr lang="ru-RU" b="1" dirty="0"/>
              <a:t> </a:t>
            </a:r>
            <a:endParaRPr lang="ru-RU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D01E4A01-0BCB-B6A8-91E6-AF8BF40ED577}"/>
              </a:ext>
            </a:extLst>
          </p:cNvPr>
          <p:cNvSpPr/>
          <p:nvPr/>
        </p:nvSpPr>
        <p:spPr>
          <a:xfrm>
            <a:off x="9568475" y="2134697"/>
            <a:ext cx="638239" cy="85917"/>
          </a:xfrm>
          <a:prstGeom prst="rect">
            <a:avLst/>
          </a:prstGeom>
          <a:solidFill>
            <a:srgbClr val="7030A0"/>
          </a:solidFill>
          <a:ln w="12700" cap="flat" cmpd="sng" algn="ctr">
            <a:solidFill>
              <a:schemeClr val="accent1">
                <a:shade val="50000"/>
              </a:schemeClr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highlight>
                <a:srgbClr val="800080"/>
              </a:highlight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48932734-994A-DC68-6B8C-A5C667EC4DD9}"/>
              </a:ext>
            </a:extLst>
          </p:cNvPr>
          <p:cNvSpPr/>
          <p:nvPr/>
        </p:nvSpPr>
        <p:spPr>
          <a:xfrm>
            <a:off x="9571319" y="2385742"/>
            <a:ext cx="638239" cy="85917"/>
          </a:xfrm>
          <a:prstGeom prst="rect">
            <a:avLst/>
          </a:prstGeom>
          <a:solidFill>
            <a:schemeClr val="tx1"/>
          </a:solidFill>
          <a:ln w="12700" cap="flat" cmpd="sng" algn="ctr">
            <a:solidFill>
              <a:schemeClr val="accent1">
                <a:shade val="50000"/>
              </a:schemeClr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highlight>
                <a:srgbClr val="80008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2713795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B9044B-3091-0744-0478-B642CE018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Частные случаи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8B46B17-0B79-302D-EC56-D48D7F6979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6" y="2221992"/>
            <a:ext cx="6068380" cy="3739896"/>
          </a:xfrm>
        </p:spPr>
        <p:txBody>
          <a:bodyPr/>
          <a:lstStyle/>
          <a:p>
            <a:r>
              <a:rPr lang="en-US" b="1" dirty="0"/>
              <a:t>∛x</a:t>
            </a:r>
            <a:r>
              <a:rPr lang="ru-RU" b="1" dirty="0"/>
              <a:t> </a:t>
            </a:r>
            <a:r>
              <a:rPr lang="ru-RU" dirty="0"/>
              <a:t>– функция с вертикальной касательной</a:t>
            </a:r>
            <a:r>
              <a:rPr lang="en-US" dirty="0"/>
              <a:t> </a:t>
            </a:r>
          </a:p>
          <a:p>
            <a:endParaRPr lang="en-US" dirty="0"/>
          </a:p>
          <a:p>
            <a:endParaRPr lang="ru-RU" dirty="0"/>
          </a:p>
          <a:p>
            <a:r>
              <a:rPr lang="ru-RU" b="1" dirty="0"/>
              <a:t>1</a:t>
            </a:r>
            <a:r>
              <a:rPr lang="en-US" b="1" dirty="0"/>
              <a:t>/x</a:t>
            </a:r>
            <a:r>
              <a:rPr lang="ru-RU" b="1" dirty="0"/>
              <a:t> </a:t>
            </a:r>
            <a:r>
              <a:rPr lang="ru-RU" dirty="0"/>
              <a:t>– функция, имеющая разрыв; алгоритм распознает как вертикальную касательную</a:t>
            </a:r>
          </a:p>
          <a:p>
            <a:endParaRPr lang="ru-RU" dirty="0"/>
          </a:p>
        </p:txBody>
      </p:sp>
      <p:pic>
        <p:nvPicPr>
          <p:cNvPr id="6" name="Рисунок 5" descr="Изображение выглядит как линия, График, диаграмма, Параллельн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538E0EA-742C-E5A0-A917-3FC117153A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9231" y="998236"/>
            <a:ext cx="2675695" cy="2645289"/>
          </a:xfrm>
          <a:prstGeom prst="rect">
            <a:avLst/>
          </a:prstGeom>
        </p:spPr>
      </p:pic>
      <p:pic>
        <p:nvPicPr>
          <p:cNvPr id="8" name="Рисунок 7" descr="Изображение выглядит как линия, диаграмма, Параллельный, Графи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35AC7B7-2824-A8EC-E514-4929A51C7C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1916" y="3077019"/>
            <a:ext cx="2876579" cy="2884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40415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3D28D5-C159-06D6-FA60-B942838E2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Итоги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3C11B5F0-EE17-6B57-BC3A-1B41FEBB48C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ru-RU" dirty="0"/>
                  <a:t>Очевидный плюс – функция не обязана быть заданной явно, можно работать с ней как с черным ящиком. </a:t>
                </a:r>
              </a:p>
              <a:p>
                <a:pPr lvl="1"/>
                <a:r>
                  <a:rPr lang="ru-RU" dirty="0"/>
                  <a:t>Применение в случаях функции, заданной таблично или алгоритмически.</a:t>
                </a:r>
              </a:p>
              <a:p>
                <a:pPr lvl="1"/>
                <a:r>
                  <a:rPr lang="ru-RU" dirty="0"/>
                  <a:t>В отличие от способа получения производной при помощи дуальных чисел, где необходимо использовать функцию в явном виде для получения производной </a:t>
                </a:r>
                <a:r>
                  <a:rPr lang="en-US" dirty="0"/>
                  <a:t>( f(x +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dirty="0"/>
                  <a:t>) = f(x) + f’(x) *</a:t>
                </a:r>
                <a:r>
                  <a:rPr lang="ru-RU" dirty="0"/>
                  <a:t> </a:t>
                </a:r>
                <a14:m>
                  <m:oMath xmlns:m="http://schemas.openxmlformats.org/officeDocument/2006/math">
                    <m:r>
                      <a:rPr lang="ru-RU" sz="2000" i="1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dirty="0"/>
                  <a:t> )</a:t>
                </a:r>
              </a:p>
              <a:p>
                <a:pPr lvl="1"/>
                <a:endParaRPr lang="ru-RU" dirty="0"/>
              </a:p>
              <a:p>
                <a:r>
                  <a:rPr lang="ru-RU" dirty="0"/>
                  <a:t>  Недостаток – зависимость от аппаратуры, на которой производятся вычисления.</a:t>
                </a:r>
              </a:p>
              <a:p>
                <a:pPr lvl="1"/>
                <a:r>
                  <a:rPr lang="ru-RU" dirty="0"/>
                  <a:t>Есть предел точности вычисления.</a:t>
                </a:r>
              </a:p>
              <a:p>
                <a:pPr lvl="1"/>
                <a:r>
                  <a:rPr lang="ru-RU" dirty="0"/>
                  <a:t>Результат алгоритма может варьироваться на разных платформах</a:t>
                </a:r>
              </a:p>
              <a:p>
                <a:pPr lvl="2"/>
                <a:endParaRPr lang="ru-RU" dirty="0"/>
              </a:p>
            </p:txBody>
          </p:sp>
        </mc:Choice>
        <mc:Fallback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3C11B5F0-EE17-6B57-BC3A-1B41FEBB48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13" t="-97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36021879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331</TotalTime>
  <Words>338</Words>
  <Application>Microsoft Office PowerPoint</Application>
  <PresentationFormat>Широкоэкранный</PresentationFormat>
  <Paragraphs>44</Paragraphs>
  <Slides>8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4" baseType="lpstr">
      <vt:lpstr>Aptos</vt:lpstr>
      <vt:lpstr>Arial</vt:lpstr>
      <vt:lpstr>Calisto MT</vt:lpstr>
      <vt:lpstr>Cambria Math</vt:lpstr>
      <vt:lpstr>Univers Condensed</vt:lpstr>
      <vt:lpstr>ChronicleVTI</vt:lpstr>
      <vt:lpstr>РГР№1: Численное дифференцирование и Проблема точности</vt:lpstr>
      <vt:lpstr>Представление чисел в памяти</vt:lpstr>
      <vt:lpstr>Неточность машинного приближения</vt:lpstr>
      <vt:lpstr>Определение производной:  формулы конечных разностей</vt:lpstr>
      <vt:lpstr>Реализация</vt:lpstr>
      <vt:lpstr>Реализация</vt:lpstr>
      <vt:lpstr>Частные случаи</vt:lpstr>
      <vt:lpstr>Итоги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Веселов Фёдор Евгеньевич</dc:creator>
  <cp:lastModifiedBy>Веселов Фёдор Евгеньевич</cp:lastModifiedBy>
  <cp:revision>7</cp:revision>
  <dcterms:created xsi:type="dcterms:W3CDTF">2025-12-11T19:50:48Z</dcterms:created>
  <dcterms:modified xsi:type="dcterms:W3CDTF">2025-12-12T01:22:14Z</dcterms:modified>
</cp:coreProperties>
</file>